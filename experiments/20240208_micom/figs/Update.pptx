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/>
    <p:restoredTop sz="94694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A16A-EC7F-D9B0-125E-8E715F9D1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4B141D-2D0A-236C-DE9B-71683D0E1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E2511-24E8-0D82-6410-195B4CB3B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16376-5CA4-C630-3DF3-C9F4A8C1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63806-DC1C-B775-6062-6051F3F9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45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44D3-0A15-B44A-C1CB-059DF3CEE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A1B28-AC62-D3B3-E826-D364CE023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A9D8A-1B7F-8B90-8AA4-CABB7941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E594-83FE-DFB2-CBBB-9DE5DE97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B90B5-9947-A63B-22D0-9B8DB401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1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F7E3-2471-AEC2-6305-61BB3561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90460-0212-7B33-FDC4-525CBB0B0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E5E82-423E-AAF2-54B1-4C853DB6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3906-F505-8D15-7E50-3487BF66C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130FC-FB00-C220-5F36-BB100E78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F0F2-EBBD-FE4B-5AC9-7E8FA801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2DB1A-985C-C825-DA84-601D8F636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30135-601F-35FE-210C-4781D31AA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A9AE0-ED42-BA81-2C53-96C5B645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55820-F3FA-88F9-CA78-354B3CA9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70C8C-FDCE-EB50-361A-9A6942C3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3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5DB7-BCE4-AF7C-4EBF-9084EEE3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8F588-1A6F-DE9B-B23A-E4D4D5DA4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94DD0-0455-C4F9-5AE0-BADA30393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9F10F-6E42-24E1-6EB3-D630C6F4B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84D23-5514-C538-F601-AB66007FB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CE019B-A279-00EB-DC22-B8E7338A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B8FE0-4C7F-8AF0-C010-D2EA9300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7363C-ACEA-7DA5-E72B-408C6FC1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25592-E273-8796-A9D2-6D7FC5BE5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B082D-82F0-1E75-C934-7031EEA78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75E2F9-051B-FA1B-DDD7-6B818A00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38CF4-5FBB-F377-DEAE-1AB157D0D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3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D10E95-CB80-2922-2008-075A6535A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C185F-74DC-55FF-8BB4-1F8CBABD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687C0-B6D5-D27A-232A-1BDA4AA0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6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5CA7-253D-D7C2-0C72-D6A994E9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2B27-8E72-100E-36DA-C961DC55F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B047C-9439-F943-E053-1DC324B6B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8050B-CDEF-3072-14ED-0C0E908F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4F72F-5D75-05BC-F973-9D4139B92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37058-E068-EAD3-25D9-38BA6157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0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9C4A-2ED1-FA2F-8AFD-A6DD9D8E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FAFA7-9CCC-275E-E712-14E871BF8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33C9D-C6D9-92AE-FA97-27E39807F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2A859-022E-8ECD-7BB2-17317FA6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36FF-3679-5E1C-326C-8F2DB543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E22F0-093B-6829-3D73-E398612D6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6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07B01-3A25-43A7-B463-9C6A7D77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DF472-2D49-39A1-992B-F017DB280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3573-9B6D-6141-2D88-7EA8B93F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C0FD-8625-0D12-6DD8-5854E03E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ADA0E-C405-9C10-ED89-C9F57AD4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4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D3EF7F-B8E7-7C3F-1CB2-52389982A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D54DB-2CFE-EBD8-1774-39A87324A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277E8-1405-4B19-43D7-0992FECA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CF852-6162-5ABC-6FDC-6D096357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06CCA-3591-1281-0571-60A04B40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4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AE002-F8A6-6F5B-3C36-27E60ACE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EE401-8896-A85F-943C-EC14833B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6FA4-93B0-5134-CE0C-E11FD12AB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30CD4-8DB5-1748-88AE-E1534ECB7DF1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756BE-55AF-4636-8398-2D63E7BA1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B6667-404B-A096-E15B-460BF503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543E6-A1CD-9842-9217-D053B5A25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9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renlab.org/data/ibd-gut-metabolism/#normalization-of-pathway-copy-numbers-to-ppcn" TargetMode="External"/><Relationship Id="rId2" Type="http://schemas.openxmlformats.org/officeDocument/2006/relationships/hyperlink" Target="https://anvio.org/tutorials/fmt-mag-metabolis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7433-CD05-2127-37B7-233676A29A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Feb. 20</a:t>
            </a:r>
            <a:r>
              <a:rPr lang="en-US" baseline="30000" dirty="0"/>
              <a:t>th </a:t>
            </a:r>
            <a:r>
              <a:rPr lang="en-US" dirty="0"/>
              <a:t>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2344A-AA02-800A-7277-92D3BB8414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25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A445-3995-63ED-3BDF-1872181D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DFE03-F0EF-487F-3F53-5F4D6B16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Tutorials followed: </a:t>
            </a:r>
          </a:p>
          <a:p>
            <a:pPr lvl="1"/>
            <a:r>
              <a:rPr lang="en-US" dirty="0">
                <a:hlinkClick r:id="rId2"/>
              </a:rPr>
              <a:t>https://anvio.org/tutorials/fmt-mag-metabolism/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https://merenlab.org/data/ibd-gut-metabolism/#normalization-of-pathway-copy-numbers-to-</a:t>
            </a:r>
            <a:r>
              <a:rPr lang="en-US" dirty="0" err="1">
                <a:hlinkClick r:id="rId3"/>
              </a:rPr>
              <a:t>ppcn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0" dirty="0">
              <a:solidFill>
                <a:srgbClr val="ABB2BF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16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A00D-BA48-12EB-8899-73E87274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9FF5F-290A-015F-9F1F-33D03F8FD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Started with estimating the difference in genome length between J and E mice for </a:t>
            </a:r>
            <a:r>
              <a:rPr lang="en-US" dirty="0" err="1"/>
              <a:t>Bacteroidaceae</a:t>
            </a:r>
            <a:r>
              <a:rPr lang="en-US" dirty="0"/>
              <a:t> and </a:t>
            </a:r>
            <a:r>
              <a:rPr lang="en-US" dirty="0" err="1"/>
              <a:t>Muribaculaceae</a:t>
            </a:r>
            <a:r>
              <a:rPr lang="en-US" dirty="0"/>
              <a:t> in </a:t>
            </a:r>
            <a:r>
              <a:rPr lang="en-US" dirty="0" err="1"/>
              <a:t>Bacteroidales</a:t>
            </a:r>
            <a:endParaRPr lang="en-US" dirty="0"/>
          </a:p>
          <a:p>
            <a:r>
              <a:rPr lang="en-US" dirty="0"/>
              <a:t>Mann-Whitney U Test Greater Than,  no multi-correction used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A83CA-F67B-7C3C-BEB7-2E95E467A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941" y="3559175"/>
            <a:ext cx="50800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46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99A3-42DE-CBB4-0C34-56FCF7E7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41D2D-C073-F3D2-5390-518981BC0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414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Started with converting </a:t>
            </a:r>
            <a:r>
              <a:rPr lang="en-US" dirty="0" err="1"/>
              <a:t>fasta</a:t>
            </a:r>
            <a:r>
              <a:rPr lang="en-US" dirty="0"/>
              <a:t> files for each MAG of E and J mice into contig databases</a:t>
            </a:r>
          </a:p>
          <a:p>
            <a:r>
              <a:rPr lang="en-US" dirty="0"/>
              <a:t>Annotated contig databased with KEGG </a:t>
            </a:r>
            <a:r>
              <a:rPr lang="en-US" dirty="0" err="1"/>
              <a:t>KOfam</a:t>
            </a:r>
            <a:r>
              <a:rPr lang="en-US" dirty="0"/>
              <a:t> hits</a:t>
            </a:r>
          </a:p>
          <a:p>
            <a:r>
              <a:rPr lang="en-US" dirty="0"/>
              <a:t>Estimate Metabolism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Pathwise</a:t>
            </a:r>
            <a:r>
              <a:rPr lang="en-US" dirty="0">
                <a:sym typeface="Wingdings" pitchFamily="2" charset="2"/>
              </a:rPr>
              <a:t> genome completeness and stepwise genome completeness score for each module and for each MAG </a:t>
            </a:r>
          </a:p>
          <a:p>
            <a:pPr lvl="1"/>
            <a:r>
              <a:rPr lang="en-US" sz="2800" dirty="0" err="1">
                <a:sym typeface="Wingdings" pitchFamily="2" charset="2"/>
              </a:rPr>
              <a:t>Pathwise</a:t>
            </a:r>
            <a:r>
              <a:rPr lang="en-US" sz="2800" dirty="0">
                <a:sym typeface="Wingdings" pitchFamily="2" charset="2"/>
              </a:rPr>
              <a:t>: </a:t>
            </a:r>
            <a:r>
              <a:rPr lang="en-US" sz="2800" dirty="0"/>
              <a:t>each possible enzyme combination in a metabolic pathway, focusing on the specific path an organism uses and reporting the one with the highest completeness.</a:t>
            </a:r>
          </a:p>
          <a:p>
            <a:pPr lvl="1"/>
            <a:r>
              <a:rPr lang="en-US" sz="2800" dirty="0">
                <a:sym typeface="Wingdings" pitchFamily="2" charset="2"/>
              </a:rPr>
              <a:t>Stepwise: </a:t>
            </a:r>
            <a:r>
              <a:rPr lang="en-US" sz="2800" dirty="0"/>
              <a:t>whether any enzyme required for each major step of the pathway is present, providing an overall completeness score based on the proportion of complete steps.</a:t>
            </a:r>
            <a:endParaRPr lang="en-US" sz="2800" dirty="0">
              <a:sym typeface="Wingdings" pitchFamily="2" charset="2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25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090A-E43A-0079-7A96-A0554843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1007A-DDA9-C46E-6D69-87F19FE64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Enrichment analysis</a:t>
            </a:r>
          </a:p>
          <a:p>
            <a:pPr lvl="1"/>
            <a:r>
              <a:rPr lang="en-US" dirty="0"/>
              <a:t>Generated a list of highly enriched modules in both cohorts</a:t>
            </a:r>
          </a:p>
          <a:p>
            <a:r>
              <a:rPr lang="en-US" dirty="0"/>
              <a:t>Performed one-sample t-test between E and J cohort on genome completeness for each highly enriched module, no multi-correction used</a:t>
            </a:r>
          </a:p>
          <a:p>
            <a:r>
              <a:rPr lang="en-US" dirty="0"/>
              <a:t>M00169, M00621, M00115, M00120, M00003, M00793, M00741, M00011, M00063, M00001, M00093, M00157, M00127, M00166, M00899, M00345, M00051, M00048, M00082, M00549, M00173, M00133, M00307, M00855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24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C3DA32-0A0D-65ED-0066-970C69BBB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84522"/>
            <a:ext cx="10905066" cy="528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6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5F3A09-4B12-1FE5-55FC-E4D126C6C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84522"/>
            <a:ext cx="10905066" cy="528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0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4BDD4-6A88-2974-D184-0B61A907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Workflow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345A-7299-BE9A-E6E1-3B048310D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Estimation of genome completeness score between two E and J across the selected modules</a:t>
            </a:r>
          </a:p>
          <a:p>
            <a:r>
              <a:rPr lang="en-US" sz="2200" dirty="0"/>
              <a:t>Mann-Whitney U Test Greater Than,  no multi-correction used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B31895-39A1-D0ED-A7AB-D32CEFEF9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394" y="1048947"/>
            <a:ext cx="5751794" cy="476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63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3E586-58C3-F4F5-2834-1F1425B9D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Workflow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47D78-E614-7979-53B1-B8F6FFAF2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Calculated metabolic independence score for the selected modules</a:t>
            </a:r>
          </a:p>
          <a:p>
            <a:r>
              <a:rPr lang="en-US" sz="2200" dirty="0"/>
              <a:t>Mann-Whitney U Test Greater Than,  no multi-correction used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121D6-7740-D77A-CFD6-976A22830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101" y="640080"/>
            <a:ext cx="666010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1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text&#10;&#10;Description automatically generated">
            <a:extLst>
              <a:ext uri="{FF2B5EF4-FFF2-40B4-BE49-F238E27FC236}">
                <a16:creationId xmlns:a16="http://schemas.microsoft.com/office/drawing/2014/main" id="{AFC8C53B-8C50-2F2A-466A-3310CC01E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515700"/>
            <a:ext cx="10905066" cy="18265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B4AAEA-4EA7-74D4-EBA6-A8762695587D}"/>
              </a:ext>
            </a:extLst>
          </p:cNvPr>
          <p:cNvSpPr txBox="1"/>
          <p:nvPr/>
        </p:nvSpPr>
        <p:spPr>
          <a:xfrm>
            <a:off x="1505641" y="778476"/>
            <a:ext cx="9180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Are Super-Colonizers Metabolically independent?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012C5-BB68-C915-769A-AD802D46ED5D}"/>
              </a:ext>
            </a:extLst>
          </p:cNvPr>
          <p:cNvSpPr txBox="1"/>
          <p:nvPr/>
        </p:nvSpPr>
        <p:spPr>
          <a:xfrm>
            <a:off x="1811077" y="1437541"/>
            <a:ext cx="8569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‘Metabolic Independence’ = Genomes encode complete metabolic modules</a:t>
            </a:r>
          </a:p>
        </p:txBody>
      </p:sp>
    </p:spTree>
    <p:extLst>
      <p:ext uri="{BB962C8B-B14F-4D97-AF65-F5344CB8AC3E}">
        <p14:creationId xmlns:p14="http://schemas.microsoft.com/office/powerpoint/2010/main" val="1624564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&#10;&#10;Description automatically generated">
            <a:extLst>
              <a:ext uri="{FF2B5EF4-FFF2-40B4-BE49-F238E27FC236}">
                <a16:creationId xmlns:a16="http://schemas.microsoft.com/office/drawing/2014/main" id="{83F995B7-9485-5C9F-B80D-AA7843F465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26" t="4592" r="45425" b="51123"/>
          <a:stretch/>
        </p:blipFill>
        <p:spPr>
          <a:xfrm>
            <a:off x="3336323" y="1729947"/>
            <a:ext cx="3991233" cy="41041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4360B7-D4B8-BBB4-F29C-2B9EFAEFA835}"/>
              </a:ext>
            </a:extLst>
          </p:cNvPr>
          <p:cNvSpPr txBox="1"/>
          <p:nvPr/>
        </p:nvSpPr>
        <p:spPr>
          <a:xfrm>
            <a:off x="2575650" y="778476"/>
            <a:ext cx="7040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Super-Colonizers have smaller MAGs</a:t>
            </a:r>
          </a:p>
        </p:txBody>
      </p:sp>
    </p:spTree>
    <p:extLst>
      <p:ext uri="{BB962C8B-B14F-4D97-AF65-F5344CB8AC3E}">
        <p14:creationId xmlns:p14="http://schemas.microsoft.com/office/powerpoint/2010/main" val="65545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graph&#10;&#10;Description automatically generated">
            <a:extLst>
              <a:ext uri="{FF2B5EF4-FFF2-40B4-BE49-F238E27FC236}">
                <a16:creationId xmlns:a16="http://schemas.microsoft.com/office/drawing/2014/main" id="{ACC4F653-498D-32D8-DB6F-1F86F19F3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27" t="49525" r="45524" b="6190"/>
          <a:stretch/>
        </p:blipFill>
        <p:spPr>
          <a:xfrm>
            <a:off x="3336323" y="1729946"/>
            <a:ext cx="4250726" cy="43709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4F206F-74E5-E0DC-AB04-BA26A36F1787}"/>
              </a:ext>
            </a:extLst>
          </p:cNvPr>
          <p:cNvSpPr txBox="1"/>
          <p:nvPr/>
        </p:nvSpPr>
        <p:spPr>
          <a:xfrm>
            <a:off x="1164210" y="778476"/>
            <a:ext cx="9863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Super-Colonizer MAGs have reduced ‘independence’</a:t>
            </a:r>
          </a:p>
        </p:txBody>
      </p:sp>
    </p:spTree>
    <p:extLst>
      <p:ext uri="{BB962C8B-B14F-4D97-AF65-F5344CB8AC3E}">
        <p14:creationId xmlns:p14="http://schemas.microsoft.com/office/powerpoint/2010/main" val="203419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7E12467D-7CC7-0106-576E-5EC873A670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933" r="55777"/>
          <a:stretch/>
        </p:blipFill>
        <p:spPr>
          <a:xfrm>
            <a:off x="3686361" y="2144110"/>
            <a:ext cx="4215714" cy="44416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480F86-A0E7-B53D-178B-85D30A783B04}"/>
              </a:ext>
            </a:extLst>
          </p:cNvPr>
          <p:cNvSpPr txBox="1"/>
          <p:nvPr/>
        </p:nvSpPr>
        <p:spPr>
          <a:xfrm rot="16200000">
            <a:off x="1489276" y="3927578"/>
            <a:ext cx="431009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Community-level ‘Module Completeness’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B27AF-3080-6C62-E343-ABB2279EE477}"/>
              </a:ext>
            </a:extLst>
          </p:cNvPr>
          <p:cNvSpPr txBox="1"/>
          <p:nvPr/>
        </p:nvSpPr>
        <p:spPr>
          <a:xfrm>
            <a:off x="2747166" y="434827"/>
            <a:ext cx="66976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Super-Colonizers communities are 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more metabolically complete overall</a:t>
            </a:r>
          </a:p>
        </p:txBody>
      </p:sp>
    </p:spTree>
    <p:extLst>
      <p:ext uri="{BB962C8B-B14F-4D97-AF65-F5344CB8AC3E}">
        <p14:creationId xmlns:p14="http://schemas.microsoft.com/office/powerpoint/2010/main" val="3721729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317</Words>
  <Application>Microsoft Macintosh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Menlo</vt:lpstr>
      <vt:lpstr>Office Theme</vt:lpstr>
      <vt:lpstr>Feb. 20th  Update</vt:lpstr>
      <vt:lpstr>Workflow </vt:lpstr>
      <vt:lpstr>Workflow</vt:lpstr>
      <vt:lpstr>Workflow</vt:lpstr>
      <vt:lpstr>Workflow</vt:lpstr>
      <vt:lpstr>PowerPoint Presentation</vt:lpstr>
      <vt:lpstr>PowerPoint Presentation</vt:lpstr>
      <vt:lpstr>Workflow</vt:lpstr>
      <vt:lpstr>Workflow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Feb. 20th  Update</dc:title>
  <dc:creator>Zhang, Zetian (David)</dc:creator>
  <cp:lastModifiedBy>Urtecho, Guillaume</cp:lastModifiedBy>
  <cp:revision>6</cp:revision>
  <dcterms:created xsi:type="dcterms:W3CDTF">2024-02-21T00:25:41Z</dcterms:created>
  <dcterms:modified xsi:type="dcterms:W3CDTF">2024-03-06T23:15:09Z</dcterms:modified>
</cp:coreProperties>
</file>